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6" r:id="rId2"/>
    <p:sldId id="28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4540"/>
    <a:srgbClr val="3F5942"/>
    <a:srgbClr val="FFFFFF"/>
    <a:srgbClr val="FAFAF8"/>
    <a:srgbClr val="F8FAFA"/>
    <a:srgbClr val="FBFAF7"/>
    <a:srgbClr val="FBFAF9"/>
    <a:srgbClr val="FAF9F6"/>
    <a:srgbClr val="3B543E"/>
    <a:srgbClr val="274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8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20FAE-A7EE-41FF-9269-06ABC1D9ACD2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D41C0-193D-4451-9099-0350F859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3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7D09-9D19-93AF-3016-FA58DBDFC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8340F-434D-22FC-744E-2CE3F740A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EC776-8A81-6361-7CA2-01D47C13A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F91A0-ABB4-3480-C631-86FD1ACE7C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84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D41C0-193D-4451-9099-0350F85916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02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DBE7-F3BA-5E34-BA76-B89365CDC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0A4FA-E545-6203-0125-C6632EF05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C089A-62B3-7747-CDEF-52BCC509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8DD0-0002-4950-8554-F017B4053D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B11B6-C33B-FDBC-E953-736250B87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0A60E-48C3-B7C8-FF54-02944EF1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C1F8-53A3-40C5-9F80-14287B4BF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9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3AF5-7753-4DA6-27A3-3B604522F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D0B12-7442-B0FE-3371-F03B74DC3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7D10B-BDB3-89BD-6D50-A346E9A53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8DD0-0002-4950-8554-F017B4053D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1F013-37D8-5117-8E98-5F844D0D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DF472-6EFB-480F-0812-4E9BEE879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C1F8-53A3-40C5-9F80-14287B4BF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55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0D31-3119-4C8A-BDCF-F39D22D8B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54DE-9AAB-CCC0-BCDB-EB25E6806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7247D-EDB7-8B6A-A657-ACEE3335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8DD0-0002-4950-8554-F017B4053D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AEA05-142D-2181-4910-EC6B81C2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A2FE0-FBF0-D874-93CF-C4984515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C1F8-53A3-40C5-9F80-14287B4BF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58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9438-C2A8-CB05-6BAD-43C55F7F2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5B120-707B-9660-230C-C1227EE6D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2992A-A9D6-E3F6-81CB-0D478D919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5F4D3-2320-2EF6-7215-CCD7C2A49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8DD0-0002-4950-8554-F017B4053D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3A9BE-24B3-DE6B-AC32-4AA1EE29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26B67-EF3F-E7D0-1977-A20971FB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C1F8-53A3-40C5-9F80-14287B4BF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9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37039-CC49-3CDA-E454-B01E7CC7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B8605-9331-7667-14E5-39B6DE366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ACB01-F6A4-6E80-F886-D970EB80C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9DB91F-63EB-23E1-95F9-39C81025E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12340-65B3-F906-3EB8-20EB64843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95C308-5EC3-3B15-D485-59FC680B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8DD0-0002-4950-8554-F017B4053D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369B02-B211-D87B-6105-EA660400D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DABCDE-6F3D-271D-237E-33373B8E7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C1F8-53A3-40C5-9F80-14287B4BF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6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75119-7F5B-A7DD-C05E-C3CDB40A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FFF52-984A-343F-4411-29C406ECA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8DD0-0002-4950-8554-F017B4053D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59051-02B5-E3C9-A9F5-18F75F3B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690F8-CA59-2DF2-727D-B58E6E77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C1F8-53A3-40C5-9F80-14287B4BF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FE811-3731-BD58-63FD-CB193461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8DD0-0002-4950-8554-F017B4053D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81355-428E-7B8E-80AA-FDE0BF5BD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A2646-D93D-6BD6-DDB9-B404C618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C1F8-53A3-40C5-9F80-14287B4BF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5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7D7F1-D869-7EDD-383B-3455DD20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CA8F1-123A-7323-F1D3-725D07AD0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57018-E756-48E5-A51D-ED6F10005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923EA-BDC3-FB9D-71EF-A49B609A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8DD0-0002-4950-8554-F017B4053D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30D50-8212-E8E0-61FF-C980A761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35F63-8EA8-D8F6-9FB0-00F230BA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C1F8-53A3-40C5-9F80-14287B4BF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91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190A-0A13-4C33-1B88-4F9163F1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47F9A-DC7E-1C9E-C2F6-BEAFE824F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EBA28-60D0-81C1-5BD2-65B278B7E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A1F4B-0868-83D0-4744-3B42B26A5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8DD0-0002-4950-8554-F017B4053D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6BA65-6076-13C5-C307-E4C2BD8FC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C2B49-6603-11D1-0469-B9AE425B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C1F8-53A3-40C5-9F80-14287B4BF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89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AC838-029A-C62D-F04E-40AE834C1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916CE-CEFE-E54B-B831-DABAE9C66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C1A7D-D6FC-6BF7-ABD6-18BF053A9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8DD0-0002-4950-8554-F017B4053D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7FAFD-3765-9020-8F77-07DB82A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B6701-693C-4D20-524B-7BE2B44E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C1F8-53A3-40C5-9F80-14287B4BF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1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B0AB6-8611-7A53-E6B8-6C342A779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0EA5B-6836-552B-CAF3-4397B65C3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9613F-CB49-6E24-E78F-AAE9F6DD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8DD0-0002-4950-8554-F017B4053D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53F2E-69D6-2914-9804-4E98F1613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202C-806C-DEA5-4A0F-0F971C17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C1F8-53A3-40C5-9F80-14287B4BF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66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7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87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9F45A7-3128-D7CC-18E2-167B63FD5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B4B0E-B611-FBC4-383C-C8818C007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7ED50-1A15-26E3-168A-EB37DE2C9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18DD0-0002-4950-8554-F017B4053D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BA5F-812C-6503-61D6-A2C5C3AD9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D4B3B-AD92-B02F-8A0B-36376213E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EC1F8-53A3-40C5-9F80-14287B4BF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7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C614-3321-BB14-B2F4-289B0D00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C280FE-A4D0-0BEA-2D29-C1283A626FF5}"/>
              </a:ext>
            </a:extLst>
          </p:cNvPr>
          <p:cNvSpPr>
            <a:spLocks/>
          </p:cNvSpPr>
          <p:nvPr/>
        </p:nvSpPr>
        <p:spPr>
          <a:xfrm>
            <a:off x="6465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AB1424-9BD2-3EA0-DE6A-136F094664EF}"/>
              </a:ext>
            </a:extLst>
          </p:cNvPr>
          <p:cNvGrpSpPr/>
          <p:nvPr/>
        </p:nvGrpSpPr>
        <p:grpSpPr>
          <a:xfrm>
            <a:off x="5522473" y="2561241"/>
            <a:ext cx="6297019" cy="3492196"/>
            <a:chOff x="5463809" y="2561241"/>
            <a:chExt cx="6297019" cy="3492196"/>
          </a:xfrm>
        </p:grpSpPr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CB483B28-5242-2E4F-966D-8270C3DDE3A5}"/>
                </a:ext>
              </a:extLst>
            </p:cNvPr>
            <p:cNvSpPr/>
            <p:nvPr/>
          </p:nvSpPr>
          <p:spPr>
            <a:xfrm>
              <a:off x="5808704" y="3394400"/>
              <a:ext cx="5607228" cy="6048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sz="2000" dirty="0">
                  <a:solidFill>
                    <a:srgbClr val="405449"/>
                  </a:solidFill>
                  <a:latin typeface="Calisto MT" panose="02040603050505030304" pitchFamily="18" charset="0"/>
                </a:rPr>
                <a:t>Product Catalog</a:t>
              </a:r>
              <a:endParaRPr lang="en-US" sz="2000" dirty="0">
                <a:latin typeface="Calisto MT" panose="02040603050505030304" pitchFamily="18" charset="0"/>
              </a:endParaRPr>
            </a:p>
          </p:txBody>
        </p:sp>
        <p:grpSp>
          <p:nvGrpSpPr>
            <p:cNvPr id="12" name="Group 8">
              <a:extLst>
                <a:ext uri="{FF2B5EF4-FFF2-40B4-BE49-F238E27FC236}">
                  <a16:creationId xmlns:a16="http://schemas.microsoft.com/office/drawing/2014/main" id="{512C52F4-4771-3EC9-E5B3-7314F17BFF28}"/>
                </a:ext>
              </a:extLst>
            </p:cNvPr>
            <p:cNvGrpSpPr/>
            <p:nvPr/>
          </p:nvGrpSpPr>
          <p:grpSpPr>
            <a:xfrm>
              <a:off x="6361785" y="2866443"/>
              <a:ext cx="4501066" cy="343101"/>
              <a:chOff x="0" y="0"/>
              <a:chExt cx="1778199" cy="120403"/>
            </a:xfrm>
          </p:grpSpPr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id="{D50B2C94-CEEA-5C37-1162-5ECD1A83CF05}"/>
                  </a:ext>
                </a:extLst>
              </p:cNvPr>
              <p:cNvSpPr/>
              <p:nvPr/>
            </p:nvSpPr>
            <p:spPr>
              <a:xfrm>
                <a:off x="0" y="0"/>
                <a:ext cx="1778199" cy="120403"/>
              </a:xfrm>
              <a:custGeom>
                <a:avLst/>
                <a:gdLst/>
                <a:ahLst/>
                <a:cxnLst/>
                <a:rect l="l" t="t" r="r" b="b"/>
                <a:pathLst>
                  <a:path w="1778199" h="120403">
                    <a:moveTo>
                      <a:pt x="0" y="0"/>
                    </a:moveTo>
                    <a:lnTo>
                      <a:pt x="1778199" y="0"/>
                    </a:lnTo>
                    <a:lnTo>
                      <a:pt x="1778199" y="120403"/>
                    </a:lnTo>
                    <a:lnTo>
                      <a:pt x="0" y="120403"/>
                    </a:lnTo>
                    <a:close/>
                  </a:path>
                </a:pathLst>
              </a:custGeom>
              <a:solidFill>
                <a:srgbClr val="EDE7DD"/>
              </a:solidFill>
            </p:spPr>
            <p:txBody>
              <a:bodyPr/>
              <a:lstStyle/>
              <a:p>
                <a:endParaRPr lang="en-US" sz="1200" dirty="0"/>
              </a:p>
            </p:txBody>
          </p:sp>
          <p:sp>
            <p:nvSpPr>
              <p:cNvPr id="14" name="TextBox 10">
                <a:extLst>
                  <a:ext uri="{FF2B5EF4-FFF2-40B4-BE49-F238E27FC236}">
                    <a16:creationId xmlns:a16="http://schemas.microsoft.com/office/drawing/2014/main" id="{D6B1543F-D89B-F2E6-A165-A103129D8757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778199" cy="17755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67"/>
                  </a:lnSpc>
                </a:pPr>
                <a:endParaRPr sz="1200"/>
              </a:p>
            </p:txBody>
          </p:sp>
        </p:grpSp>
        <p:sp>
          <p:nvSpPr>
            <p:cNvPr id="3" name="Text 0">
              <a:extLst>
                <a:ext uri="{FF2B5EF4-FFF2-40B4-BE49-F238E27FC236}">
                  <a16:creationId xmlns:a16="http://schemas.microsoft.com/office/drawing/2014/main" id="{F24A0CFF-9D3C-C65D-110C-325DC6D93342}"/>
                </a:ext>
              </a:extLst>
            </p:cNvPr>
            <p:cNvSpPr/>
            <p:nvPr/>
          </p:nvSpPr>
          <p:spPr>
            <a:xfrm>
              <a:off x="5463809" y="2561241"/>
              <a:ext cx="6297019" cy="11812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4625"/>
                </a:lnSpc>
              </a:pPr>
              <a:r>
                <a:rPr lang="en-US" sz="3708" dirty="0">
                  <a:solidFill>
                    <a:srgbClr val="3B4540"/>
                  </a:solidFill>
                  <a:latin typeface="Baskerville Old Face" panose="02020602080505020303" pitchFamily="18" charset="0"/>
                  <a:ea typeface="Fraunces Extra Bold" pitchFamily="34" charset="-122"/>
                  <a:cs typeface="Fraunces Extra Bold" pitchFamily="34" charset="-120"/>
                </a:rPr>
                <a:t>2026 Holiday Collection</a:t>
              </a:r>
              <a:endParaRPr lang="en-US" sz="3708" dirty="0">
                <a:latin typeface="Baskerville Old Face" panose="02020602080505020303" pitchFamily="18" charset="0"/>
              </a:endParaRPr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27796266-9BD3-3366-6736-DEEE61A533AA}"/>
                </a:ext>
              </a:extLst>
            </p:cNvPr>
            <p:cNvSpPr txBox="1"/>
            <p:nvPr/>
          </p:nvSpPr>
          <p:spPr>
            <a:xfrm>
              <a:off x="7032759" y="5822605"/>
              <a:ext cx="3159119" cy="2308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67"/>
                </a:lnSpc>
              </a:pPr>
              <a:r>
                <a:rPr lang="en-US" sz="1333" spc="267" dirty="0">
                  <a:solidFill>
                    <a:srgbClr val="00000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WINTER 2026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244F6A2-665D-91E0-8B6A-EE8CF9569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324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216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1ADCCD5-E3D0-9095-0BCD-CD52C69ABD0B}"/>
              </a:ext>
            </a:extLst>
          </p:cNvPr>
          <p:cNvSpPr/>
          <p:nvPr/>
        </p:nvSpPr>
        <p:spPr>
          <a:xfrm rot="10800000">
            <a:off x="11833167" y="0"/>
            <a:ext cx="358832" cy="4734560"/>
          </a:xfrm>
          <a:prstGeom prst="rect">
            <a:avLst/>
          </a:prstGeom>
          <a:solidFill>
            <a:srgbClr val="3B45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B7864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736DB1B-02B2-B595-18A2-75A5CC5C5FCC}"/>
              </a:ext>
            </a:extLst>
          </p:cNvPr>
          <p:cNvSpPr/>
          <p:nvPr/>
        </p:nvSpPr>
        <p:spPr>
          <a:xfrm>
            <a:off x="3000412" y="5152408"/>
            <a:ext cx="1314376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25"/>
              </a:lnSpc>
            </a:pPr>
            <a:r>
              <a:rPr sz="1600" b="1" dirty="0">
                <a:solidFill>
                  <a:srgbClr val="405449"/>
                </a:solidFill>
                <a:latin typeface="Georgia Pro Light"/>
              </a:rPr>
              <a:t>H-10078#3</a:t>
            </a:r>
            <a:endParaRPr lang="en-US" sz="1600" dirty="0">
              <a:latin typeface="Georgia Pro Light" panose="020403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453</TotalTime>
  <Words>10</Words>
  <Application>Microsoft Office PowerPoint</Application>
  <PresentationFormat>Widescreen</PresentationFormat>
  <Paragraphs>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Baskerville Old Face</vt:lpstr>
      <vt:lpstr>Calisto MT</vt:lpstr>
      <vt:lpstr>Georgia Pro Light</vt:lpstr>
      <vt:lpstr>Quattrocento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Ren</dc:creator>
  <cp:lastModifiedBy>Jamie Ren</cp:lastModifiedBy>
  <cp:revision>53</cp:revision>
  <dcterms:created xsi:type="dcterms:W3CDTF">2026-03-19T03:33:41Z</dcterms:created>
  <dcterms:modified xsi:type="dcterms:W3CDTF">2026-03-23T08:57:10Z</dcterms:modified>
</cp:coreProperties>
</file>